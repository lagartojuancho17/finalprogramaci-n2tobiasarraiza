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documentación técnica del sitio aether.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image" Target="../media/image-24-4.jpg"/><Relationship Id="rId5" Type="http://schemas.openxmlformats.org/officeDocument/2006/relationships/image" Target="../media/image-24-5.jpg"/><Relationship Id="rId6" Type="http://schemas.openxmlformats.org/officeDocument/2006/relationships/image" Target="../media/image-24-6.jpg"/><Relationship Id="rId7" Type="http://schemas.openxmlformats.org/officeDocument/2006/relationships/image" Target="../media/image-24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obiasarraiza/e009dd76-c965-41c6-8949-c53af974f498/scratchpad/deck/img/hero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0"/>
            <a:ext cx="48280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0920" y="0"/>
            <a:ext cx="1371600" cy="6858000"/>
          </a:xfrm>
          <a:prstGeom prst="rect">
            <a:avLst/>
          </a:prstGeom>
          <a:solidFill>
            <a:srgbClr val="121210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DRILLOT STUDIO  ·  DOCUMENTACIÓN TÉCNICA</a:t>
            </a:r>
            <a:endParaRPr lang="en-US" sz="1150" dirty="0"/>
          </a:p>
        </p:txBody>
      </p:sp>
      <p:pic>
        <p:nvPicPr>
          <p:cNvPr id="5" name="Image 1" descr="/private/tmp/claude-501/-Users-tobiasarraiza/e009dd76-c965-41c6-8949-c53af974f498/scratchpad/deck/img/t-aether-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65960"/>
            <a:ext cx="4480560" cy="15292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3732997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Técnica del Proyecto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85800" y="4245061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 · TypeScript · Componentes JS · Modularidad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85800" y="5989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Tobias Arraiza</a:t>
            </a:r>
            <a:pPr indent="0" marL="0">
              <a:buNone/>
            </a:pPr>
            <a:r>
              <a:rPr lang="en-US" sz="13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Trabajo Final · Programación II · UMAI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contenid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3474720" cy="7767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17320" y="27157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general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46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32644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Prolijidad — modularidad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38130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en JavaScript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4343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43616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 — animación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4892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49103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5440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17320" y="54589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galería infinita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" y="5989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17320" y="60076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1600" dirty="0"/>
          </a:p>
        </p:txBody>
      </p:sp>
      <p:pic>
        <p:nvPicPr>
          <p:cNvPr id="18" name="Image 1" descr="/private/tmp/claude-501/-Users-tobiasarraiza/e009dd76-c965-41c6-8949-c53af974f498/scratchpad/deck/img/hero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80960" y="932688"/>
            <a:ext cx="3840480" cy="5029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r" indent="0" marL="0">
              <a:buNone/>
            </a:pPr>
            <a:r>
              <a:rPr lang="en-US" sz="110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obiasarraiza/e009dd76-c965-41c6-8949-c53af974f498/scratchpad/deck/img/hero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77072" y="0"/>
            <a:ext cx="36118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7072" y="0"/>
            <a:ext cx="1280160" cy="6858000"/>
          </a:xfrm>
          <a:prstGeom prst="rect">
            <a:avLst/>
          </a:prstGeom>
          <a:solidFill>
            <a:srgbClr val="121210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01 · INTRODUCCIÓN</a:t>
            </a:r>
            <a:endParaRPr lang="en-US" sz="1150" dirty="0"/>
          </a:p>
        </p:txBody>
      </p:sp>
      <p:pic>
        <p:nvPicPr>
          <p:cNvPr id="5" name="Image 1" descr="/private/tmp/claude-501/-Users-tobiasarraiza/e009dd76-c965-41c6-8949-c53af974f498/scratchpad/deck/img/t-arquitectura-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97480"/>
            <a:ext cx="5760720" cy="12453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r" indent="0" marL="0">
              <a:buNone/>
            </a:pPr>
            <a:r>
              <a:rPr lang="en-US" sz="11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EL PROYECTO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proyect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3291840" cy="1034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286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una sola página: son tres experiencias que comparten estilos, fuentes y datos.</a:t>
            </a:r>
            <a:endParaRPr lang="en-US" sz="1500" dirty="0"/>
          </a:p>
        </p:txBody>
      </p:sp>
      <p:pic>
        <p:nvPicPr>
          <p:cNvPr id="5" name="Image 1" descr="/private/tmp/claude-501/-Users-tobiasarraiza/e009dd76-c965-41c6-8949-c53af974f498/scratchpad/deck/img/hero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2880360"/>
            <a:ext cx="3474720" cy="1965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4956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85800" y="5212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85800" y="56327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Loader, carrusel, spotlight y galería horizontal.</a:t>
            </a:r>
            <a:endParaRPr lang="en-US" sz="1250" dirty="0"/>
          </a:p>
        </p:txBody>
      </p:sp>
      <p:pic>
        <p:nvPicPr>
          <p:cNvPr id="9" name="Image 2" descr="/private/tmp/claude-501/-Users-tobiasarraiza/e009dd76-c965-41c6-8949-c53af974f498/scratchpad/deck/img/hero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80560" y="2880360"/>
            <a:ext cx="3474720" cy="19659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80560" y="4956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gallery.html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480560" y="5212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Galería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480560" y="56327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2D infinito y arrastrable, en TypeScript.</a:t>
            </a:r>
            <a:endParaRPr lang="en-US" sz="1250" dirty="0"/>
          </a:p>
        </p:txBody>
      </p:sp>
      <p:pic>
        <p:nvPicPr>
          <p:cNvPr id="13" name="Image 3" descr="/private/tmp/claude-501/-Users-tobiasarraiza/e009dd76-c965-41c6-8949-c53af974f498/scratchpad/deck/img/hero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75320" y="2880360"/>
            <a:ext cx="3474720" cy="19659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75320" y="4956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admin.html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275320" y="5212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8275320" y="56327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+ ABM de usuarios y productos.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r" indent="0" marL="0">
              <a:buNone/>
            </a:pPr>
            <a:r>
              <a:rPr lang="en-US" sz="110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STACK TECNOLÓGICO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stack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2286000" cy="8902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269748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1C1C19"/>
          </a:solidFill>
          <a:ln/>
        </p:spPr>
      </p:sp>
      <p:sp>
        <p:nvSpPr>
          <p:cNvPr id="5" name="Text 2"/>
          <p:cNvSpPr/>
          <p:nvPr/>
        </p:nvSpPr>
        <p:spPr>
          <a:xfrm>
            <a:off x="923544" y="28437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23544" y="3264408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Bundler y dev server. Compila TS y arma la build.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407408" y="269748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1C1C19"/>
          </a:solidFill>
          <a:ln/>
        </p:spPr>
      </p:sp>
      <p:sp>
        <p:nvSpPr>
          <p:cNvPr id="8" name="Text 5"/>
          <p:cNvSpPr/>
          <p:nvPr/>
        </p:nvSpPr>
        <p:spPr>
          <a:xfrm>
            <a:off x="4645152" y="28437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v4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45152" y="3264408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Utilidades CSS: casi todo el layout con clases.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4142232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1C1C19"/>
          </a:solidFill>
          <a:ln/>
        </p:spPr>
      </p:sp>
      <p:sp>
        <p:nvSpPr>
          <p:cNvPr id="11" name="Text 8"/>
          <p:cNvSpPr/>
          <p:nvPr/>
        </p:nvSpPr>
        <p:spPr>
          <a:xfrm>
            <a:off x="923544" y="428853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23544" y="470916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animación: timelines, scroll, galería.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07408" y="4142232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1C1C19"/>
          </a:solidFill>
          <a:ln/>
        </p:spPr>
      </p:sp>
      <p:sp>
        <p:nvSpPr>
          <p:cNvPr id="14" name="Text 11"/>
          <p:cNvSpPr/>
          <p:nvPr/>
        </p:nvSpPr>
        <p:spPr>
          <a:xfrm>
            <a:off x="4645152" y="428853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45152" y="470916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suave, sincronizado con ScrollTrigger.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5586984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1C1C19"/>
          </a:solidFill>
          <a:ln/>
        </p:spPr>
      </p:sp>
      <p:sp>
        <p:nvSpPr>
          <p:cNvPr id="17" name="Text 14"/>
          <p:cNvSpPr/>
          <p:nvPr/>
        </p:nvSpPr>
        <p:spPr>
          <a:xfrm>
            <a:off x="923544" y="57332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23544" y="615391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Tipado estático en la galería (gallery.ts).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407408" y="5586984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1C1C19"/>
          </a:solidFill>
          <a:ln/>
        </p:spPr>
      </p:sp>
      <p:sp>
        <p:nvSpPr>
          <p:cNvPr id="20" name="Text 17"/>
          <p:cNvSpPr/>
          <p:nvPr/>
        </p:nvSpPr>
        <p:spPr>
          <a:xfrm>
            <a:off x="4645152" y="57332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45152" y="615391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Modules: componentes e import / export.</a:t>
            </a:r>
            <a:endParaRPr lang="en-US" sz="1150" dirty="0"/>
          </a:p>
        </p:txBody>
      </p:sp>
      <p:pic>
        <p:nvPicPr>
          <p:cNvPr id="22" name="Image 1" descr="/private/tmp/claude-501/-Users-tobiasarraiza/e009dd76-c965-41c6-8949-c53af974f498/scratchpad/deck/img/hero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75320" y="2697480"/>
            <a:ext cx="3246120" cy="35112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r" indent="0" marL="0">
              <a:buNone/>
            </a:pPr>
            <a:r>
              <a:rPr lang="en-US" sz="11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ESTRUCTURA DE CARPETAS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estructura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3566160" cy="755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331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organización separa el código por responsabilidad. Cada carpeta tiene un propósito claro.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" y="33832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  —  la galería en TypeScript.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js/services/  —  lógica reutilizable.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js/components/  —  cada sección visual.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public/  —  imágenes, videos y datos.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2286000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1A1A17"/>
          </a:solidFill>
          <a:ln/>
        </p:spPr>
      </p:sp>
      <p:sp>
        <p:nvSpPr>
          <p:cNvPr id="7" name="Text 4"/>
          <p:cNvSpPr/>
          <p:nvPr/>
        </p:nvSpPr>
        <p:spPr>
          <a:xfrm>
            <a:off x="6647688" y="2432304"/>
            <a:ext cx="467258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PROGRAMACION/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 / gallery / admin .html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main.js         (orquestador)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vite.config.js  ·  tsconfig.json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src/gallery.ts  (TypeScript)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js/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services/DataLoader.js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components/  (8 clases)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r" indent="0" marL="0">
              <a:buNone/>
            </a:pPr>
            <a:r>
              <a:rPr lang="en-US" sz="110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BUILD MULTI-PÁGINA CON VITE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build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1920240" cy="8112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286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defecto Vite arma una sola página. Las tres se declaran como puntos de entrada.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" y="33375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dev  —  desarrollo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build  —  producción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preview  —  previsualizar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typecheck  —  chequeo de tipos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2286000"/>
            <a:ext cx="5074920" cy="2926080"/>
          </a:xfrm>
          <a:prstGeom prst="roundRect">
            <a:avLst>
              <a:gd name="adj" fmla="val 2813"/>
            </a:avLst>
          </a:prstGeom>
          <a:solidFill>
            <a:srgbClr val="1A1A17"/>
          </a:solidFill>
          <a:ln/>
        </p:spPr>
      </p:sp>
      <p:sp>
        <p:nvSpPr>
          <p:cNvPr id="7" name="Text 4"/>
          <p:cNvSpPr/>
          <p:nvPr/>
        </p:nvSpPr>
        <p:spPr>
          <a:xfrm>
            <a:off x="6647688" y="2432304"/>
            <a:ext cx="467258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defineConfig({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plugins: [tailwindcss()],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build: { rollupOptions: { input: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main:    "index.html",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gallery: "gallery.html",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admin:   "admin.html",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} },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algn="r" indent="0" marL="0">
              <a:buNone/>
            </a:pPr>
            <a:r>
              <a:rPr lang="en-US" sz="11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obiasarraiza/e009dd76-c965-41c6-8949-c53af974f498/scratchpad/deck/img/hero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77072" y="0"/>
            <a:ext cx="36118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02 · MODULARIDAD</a:t>
            </a:r>
            <a:endParaRPr lang="en-US" sz="1150" dirty="0"/>
          </a:p>
        </p:txBody>
      </p:sp>
      <p:pic>
        <p:nvPicPr>
          <p:cNvPr id="4" name="Image 1" descr="/private/tmp/claude-501/-Users-tobiasarraiza/e009dd76-c965-41c6-8949-c53af974f498/scratchpad/deck/img/t-prolijidad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5486400" cy="14858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algn="r" indent="0" marL="0">
              <a:buNone/>
            </a:pPr>
            <a:r>
              <a:rPr lang="en-US" sz="110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EXPORT / IMPORT (ES MODULES)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modulos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3108960" cy="8007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194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módulo publica algo con export; otro lo usa con import. Es el sistema nativo de JavaScript.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85800" y="2880360"/>
            <a:ext cx="5212080" cy="3246120"/>
          </a:xfrm>
          <a:prstGeom prst="roundRect">
            <a:avLst>
              <a:gd name="adj" fmla="val 2535"/>
            </a:avLst>
          </a:prstGeom>
          <a:solidFill>
            <a:srgbClr val="1A1A17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" y="3026664"/>
            <a:ext cx="48097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DataLoader.js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DataLoader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async loadData(url)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 = await fetch(url);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r.json();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09360" y="2880360"/>
            <a:ext cx="5212080" cy="3246120"/>
          </a:xfrm>
          <a:prstGeom prst="roundRect">
            <a:avLst>
              <a:gd name="adj" fmla="val 2535"/>
            </a:avLst>
          </a:prstGeom>
          <a:solidFill>
            <a:srgbClr val="1A1A17"/>
          </a:solidFill>
          <a:ln/>
        </p:spPr>
      </p:sp>
      <p:sp>
        <p:nvSpPr>
          <p:cNvPr id="8" name="Text 5"/>
          <p:cNvSpPr/>
          <p:nvPr/>
        </p:nvSpPr>
        <p:spPr>
          <a:xfrm>
            <a:off x="6510528" y="3026664"/>
            <a:ext cx="48097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main.js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DataLoader }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"./js/services/DataLoader.js";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data = await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DataLoader.loadData("./assets/data.json");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&lt;script type="module" src="main.js"&gt;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pPr algn="r" indent="0" marL="0">
              <a:buNone/>
            </a:pPr>
            <a:r>
              <a:rPr lang="en-US" sz="11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SERVICIOS · COMPONENTES · ORQUESTADOR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roles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2194560" cy="8734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JS se divide en tres roles bien diferenciados: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5800" y="301752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EBE7D7"/>
          </a:solidFill>
          <a:ln/>
        </p:spPr>
      </p:sp>
      <p:sp>
        <p:nvSpPr>
          <p:cNvPr id="6" name="Text 3"/>
          <p:cNvSpPr/>
          <p:nvPr/>
        </p:nvSpPr>
        <p:spPr>
          <a:xfrm>
            <a:off x="923544" y="31638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23544" y="3621024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reutilizable que no toca la pantalla. Aquí vive DataLoader (fetch de los JSON).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26280" y="301752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EBE7D7"/>
          </a:solidFill>
          <a:ln/>
        </p:spPr>
      </p:sp>
      <p:sp>
        <p:nvSpPr>
          <p:cNvPr id="9" name="Text 6"/>
          <p:cNvSpPr/>
          <p:nvPr/>
        </p:nvSpPr>
        <p:spPr>
          <a:xfrm>
            <a:off x="4764024" y="31638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64024" y="3621024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controla una sección visual concreta: loader, carrusel, galería, productos…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66760" y="301752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EBE7D7"/>
          </a:solidFill>
          <a:ln/>
        </p:spPr>
      </p:sp>
      <p:sp>
        <p:nvSpPr>
          <p:cNvPr id="12" name="Text 9"/>
          <p:cNvSpPr/>
          <p:nvPr/>
        </p:nvSpPr>
        <p:spPr>
          <a:xfrm>
            <a:off x="8604504" y="31638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main.js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04504" y="3621024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orquestador: importa todos los componentes, carga los datos y los arranca en orden.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r" indent="0" marL="0">
              <a:buNone/>
            </a:pPr>
            <a:r>
              <a:rPr lang="en-US" sz="110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MAPA DE DEPENDENCIAS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dependencias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3840480" cy="7894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240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importa a quién. Un componente puede componer a otro; los servicios se comparten.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85800" y="2926080"/>
            <a:ext cx="10835640" cy="3200400"/>
          </a:xfrm>
          <a:prstGeom prst="roundRect">
            <a:avLst>
              <a:gd name="adj" fmla="val 2571"/>
            </a:avLst>
          </a:prstGeom>
          <a:solidFill>
            <a:srgbClr val="1A1A17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" y="3072384"/>
            <a:ext cx="1043330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main.js  (orquestador)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├─ services/DataLoader.js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├─ components/Carousel.js      → gsap / SplitText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├─ components/Spotlight.js     → gsap / ScrollTrigger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├─ components/ProductGallery.js→ ProductModal.js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└─ components/Explore.js       → gsap / ScrollTrigger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admin.html   → js/admin.js → services/DataLoader.js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gallery.html → src/gallery.ts → gsap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algn="r" indent="0" marL="0">
              <a:buNone/>
            </a:pPr>
            <a:r>
              <a:rPr lang="en-US" sz="11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obiasarraiza/e009dd76-c965-41c6-8949-c53af974f498/scratchpad/deck/img/hero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77072" y="0"/>
            <a:ext cx="36118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03 · COMPONENTES</a:t>
            </a:r>
            <a:endParaRPr lang="en-US" sz="1150" dirty="0"/>
          </a:p>
        </p:txBody>
      </p:sp>
      <p:pic>
        <p:nvPicPr>
          <p:cNvPr id="4" name="Image 1" descr="/private/tmp/claude-501/-Users-tobiasarraiza/e009dd76-c965-41c6-8949-c53af974f498/scratchpad/deck/img/t-componentes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6035040" cy="12356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r" indent="0" marL="0">
              <a:buNone/>
            </a:pPr>
            <a:r>
              <a:rPr lang="en-US" sz="110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ANATOMÍA DE UN COMPONENTE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anatomia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3291840" cy="7566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2468880"/>
            <a:ext cx="5120640" cy="3566160"/>
          </a:xfrm>
          <a:prstGeom prst="roundRect">
            <a:avLst>
              <a:gd name="adj" fmla="val 2308"/>
            </a:avLst>
          </a:prstGeom>
          <a:solidFill>
            <a:srgbClr val="1A1A17"/>
          </a:solidFill>
          <a:ln/>
        </p:spPr>
      </p:sp>
      <p:sp>
        <p:nvSpPr>
          <p:cNvPr id="5" name="Text 2"/>
          <p:cNvSpPr/>
          <p:nvPr/>
        </p:nvSpPr>
        <p:spPr>
          <a:xfrm>
            <a:off x="886968" y="2615184"/>
            <a:ext cx="471830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Spotlight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constructor(sel)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this.el =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document.querySelector(sel);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(!this.el) return;  // guarda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this.init();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init() { /* ... */ }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1722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675120" y="268833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constructor(selector)  —  recibe el selector de su sección.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7220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675120" y="352958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de seguridad: if (!el) return;  no explota si falta.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0" y="43708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referencias y estado en this.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7220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75120" y="5212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init()  ordena el arranque llamando a los métodos.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pPr algn="r" indent="0" marL="0">
              <a:buNone/>
            </a:pPr>
            <a:r>
              <a:rPr lang="en-US" sz="11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RENDER DINÁMICO DESDE JSON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render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2743200" cy="8449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240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componentes generan su HTML a partir de los datos. Hay dos técnicas.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innerHTML + template strings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" y="3154680"/>
            <a:ext cx="5212080" cy="2651760"/>
          </a:xfrm>
          <a:prstGeom prst="roundRect">
            <a:avLst>
              <a:gd name="adj" fmla="val 3103"/>
            </a:avLst>
          </a:prstGeom>
          <a:solidFill>
            <a:srgbClr val="1A1A17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" y="3300984"/>
            <a:ext cx="480974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cardEl.innerHTML = `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&lt;span&gt;${cardData.brand}&lt;/span&gt;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&lt;h3&gt;${variety.name}&lt;/h3&gt;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&lt;p&gt;${variety.price}&lt;/p&gt;`;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grid.appendChild(cardEl);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createElement (más control)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3154680"/>
            <a:ext cx="5212080" cy="2651760"/>
          </a:xfrm>
          <a:prstGeom prst="roundRect">
            <a:avLst>
              <a:gd name="adj" fmla="val 3103"/>
            </a:avLst>
          </a:prstGeom>
          <a:solidFill>
            <a:srgbClr val="1A1A17"/>
          </a:solidFill>
          <a:ln/>
        </p:spPr>
      </p:sp>
      <p:sp>
        <p:nvSpPr>
          <p:cNvPr id="10" name="Text 7"/>
          <p:cNvSpPr/>
          <p:nvPr/>
        </p:nvSpPr>
        <p:spPr>
          <a:xfrm>
            <a:off x="6510528" y="3300984"/>
            <a:ext cx="480974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isVideo = src.endsWith(.mp4);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 = isVideo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document.createElement("video")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document.createElement("img");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el.src = src;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pPr algn="r" indent="0" marL="0">
              <a:buNone/>
            </a:pPr>
            <a:r>
              <a:rPr lang="en-US" sz="110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LOS OCHO COMPONENTES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piezas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2286000" cy="7885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6060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9169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de carga (timeline)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355080" y="26060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55080" y="29169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con clip-path + SplitText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1520" y="350215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8130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fijado (pin) por progreso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355080" y="350215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HorizontalGallery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38130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horizontal + hover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43982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ProductGrid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47091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tarjetas desde JSON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355080" y="43982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ProductGallery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55080" y="47091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swatches + entrada + modal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1520" y="52943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ProductModal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31520" y="560527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pop-up de producto (timelines)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355080" y="52943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55080" y="560527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con parallax y slider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pPr algn="r" indent="0" marL="0">
              <a:buNone/>
            </a:pPr>
            <a:r>
              <a:rPr lang="en-US" sz="11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DATALOADER Y PANEL ADMIN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datos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2194560" cy="8112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DataLoader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" y="26974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/ await + fetch para traer un JSON.</a:t>
            </a:r>
            <a:endParaRPr lang="en-US" sz="125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static: se llama sin crear instancia.</a:t>
            </a:r>
            <a:endParaRPr lang="en-US" sz="125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 el manejo de errores.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5800" y="4343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Admin (admin.js)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4709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contra users.json (sessionStorage).</a:t>
            </a:r>
            <a:endParaRPr lang="en-US" sz="125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ABM de usuarios y productos.</a:t>
            </a:r>
            <a:endParaRPr lang="en-US" sz="125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un objeto Request en cada cambio.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2331720"/>
            <a:ext cx="5166360" cy="2377440"/>
          </a:xfrm>
          <a:prstGeom prst="roundRect">
            <a:avLst>
              <a:gd name="adj" fmla="val 3462"/>
            </a:avLst>
          </a:prstGeom>
          <a:solidFill>
            <a:srgbClr val="1A1A17"/>
          </a:solidFill>
          <a:ln/>
        </p:spPr>
      </p:sp>
      <p:sp>
        <p:nvSpPr>
          <p:cNvPr id="9" name="Text 6"/>
          <p:cNvSpPr/>
          <p:nvPr/>
        </p:nvSpPr>
        <p:spPr>
          <a:xfrm>
            <a:off x="6556248" y="2478024"/>
            <a:ext cx="476402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DataLoader {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async loadData(url) {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 = await fetch(url);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(!r.ok) throw new Error(r.status);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r.json();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pic>
        <p:nvPicPr>
          <p:cNvPr id="10" name="Image 1" descr="/private/tmp/claude-501/-Users-tobiasarraiza/e009dd76-c965-41c6-8949-c53af974f498/scratchpad/deck/img/prod-b2-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4846320"/>
            <a:ext cx="5166360" cy="1325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pPr algn="r" indent="0" marL="0">
              <a:buNone/>
            </a:pPr>
            <a:r>
              <a:rPr lang="en-US" sz="110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obiasarraiza/e009dd76-c965-41c6-8949-c53af974f498/scratchpad/deck/img/hero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77072" y="0"/>
            <a:ext cx="36118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7072" y="0"/>
            <a:ext cx="1280160" cy="6858000"/>
          </a:xfrm>
          <a:prstGeom prst="rect">
            <a:avLst/>
          </a:prstGeom>
          <a:solidFill>
            <a:srgbClr val="121210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04 · GSAP · ANIMACIÓN</a:t>
            </a:r>
            <a:endParaRPr lang="en-US" sz="1150" dirty="0"/>
          </a:p>
        </p:txBody>
      </p:sp>
      <p:pic>
        <p:nvPicPr>
          <p:cNvPr id="5" name="Image 1" descr="/private/tmp/claude-501/-Users-tobiasarraiza/e009dd76-c965-41c6-8949-c53af974f498/scratchpad/deck/img/t-movimiento-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97480"/>
            <a:ext cx="5760720" cy="107334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pPr algn="r" indent="0" marL="0">
              <a:buNone/>
            </a:pPr>
            <a:r>
              <a:rPr lang="en-US" sz="11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LOS MÉTODOS DE GSAP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metodos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3017520" cy="7880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gsap.set()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063240" y="25328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 propiedades al instante, sin animar (estado inicial).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1520" y="3172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gsap.to()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063240" y="31912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 del valor actual al destino. El más usado.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8313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gsap.from()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63240" y="38496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 desde un valor hasta el actual (revelados).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4489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gsap.fromTo()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063240" y="45079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inicio y fin explícitos (clip-path del carrusel).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" y="5148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gsap.timeline()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063240" y="5166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Encadena varias animaciones con control fino.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680960" y="2514600"/>
            <a:ext cx="3840480" cy="2286000"/>
          </a:xfrm>
          <a:prstGeom prst="roundRect">
            <a:avLst>
              <a:gd name="adj" fmla="val 3600"/>
            </a:avLst>
          </a:prstGeom>
          <a:solidFill>
            <a:srgbClr val="1A1A17"/>
          </a:solidFill>
          <a:ln/>
        </p:spPr>
      </p:sp>
      <p:sp>
        <p:nvSpPr>
          <p:cNvPr id="15" name="Text 12"/>
          <p:cNvSpPr/>
          <p:nvPr/>
        </p:nvSpPr>
        <p:spPr>
          <a:xfrm>
            <a:off x="7882128" y="2660904"/>
            <a:ext cx="343814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gsap.to(box,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x: 200,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scale: 1.1,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duration: 1,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ease: "power3.out"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pic>
        <p:nvPicPr>
          <p:cNvPr id="16" name="Image 1" descr="/private/tmp/claude-501/-Users-tobiasarraiza/e009dd76-c965-41c6-8949-c53af974f498/scratchpad/deck/img/prod-v2-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80960" y="4937760"/>
            <a:ext cx="3840480" cy="12344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pPr algn="r" indent="0" marL="0">
              <a:buNone/>
            </a:pPr>
            <a:r>
              <a:rPr lang="en-US" sz="110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PLUGINS, EASES Y STAGGER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plugins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2651760" cy="99071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2606040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1C1C19"/>
          </a:solidFill>
          <a:ln/>
        </p:spPr>
      </p:sp>
      <p:sp>
        <p:nvSpPr>
          <p:cNvPr id="5" name="Text 2"/>
          <p:cNvSpPr/>
          <p:nvPr/>
        </p:nvSpPr>
        <p:spPr>
          <a:xfrm>
            <a:off x="923544" y="27523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ScrollTrigger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23544" y="317296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 la animación al scroll: pin (fija) y scrub (avanza con el scroll).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63640" y="2606040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1C1C19"/>
          </a:solidFill>
          <a:ln/>
        </p:spPr>
      </p:sp>
      <p:sp>
        <p:nvSpPr>
          <p:cNvPr id="8" name="Text 5"/>
          <p:cNvSpPr/>
          <p:nvPr/>
        </p:nvSpPr>
        <p:spPr>
          <a:xfrm>
            <a:off x="6501384" y="27523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SplitText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01384" y="317296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un título en palabras o líneas para animarlas por separado.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4453128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1C1C19"/>
          </a:solidFill>
          <a:ln/>
        </p:spPr>
      </p:sp>
      <p:sp>
        <p:nvSpPr>
          <p:cNvPr id="11" name="Text 8"/>
          <p:cNvSpPr/>
          <p:nvPr/>
        </p:nvSpPr>
        <p:spPr>
          <a:xfrm>
            <a:off x="923544" y="45994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23544" y="5020056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power2/3/4, back.out(n), none, y la curva propia CustomEase “hop”.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4453128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1C1C19"/>
          </a:solidFill>
          <a:ln/>
        </p:spPr>
      </p:sp>
      <p:sp>
        <p:nvSpPr>
          <p:cNvPr id="14" name="Text 11"/>
          <p:cNvSpPr/>
          <p:nvPr/>
        </p:nvSpPr>
        <p:spPr>
          <a:xfrm>
            <a:off x="6501384" y="45994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stagger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01384" y="5020056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Desfasa la animación de muchos elementos (desde el centro, por grilla).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pPr algn="r" indent="0" marL="0">
              <a:buNone/>
            </a:pPr>
            <a:r>
              <a:rPr lang="en-US" sz="11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GSAP AVANZADO: EL MOTOR DE LA GALERÍA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motor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2194560" cy="7458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3774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gsap.ticker.add(fn)  —  corre en cada cuadro (~60 fps).</a:t>
            </a:r>
            <a:endParaRPr lang="en-US" sz="1250" dirty="0"/>
          </a:p>
          <a:p>
            <a:pPr algn="l" marL="203200" indent="-2032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gsap.quickSetter()  —  setter optimizado para cambiar mucho.</a:t>
            </a:r>
            <a:endParaRPr lang="en-US" sz="1250" dirty="0"/>
          </a:p>
          <a:p>
            <a:pPr algn="l" marL="203200" indent="-2032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gsap.utils.wrap()  —  envuelve el valor → plano infinito.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355080" y="2377440"/>
            <a:ext cx="5166360" cy="3749040"/>
          </a:xfrm>
          <a:prstGeom prst="roundRect">
            <a:avLst>
              <a:gd name="adj" fmla="val 2195"/>
            </a:avLst>
          </a:prstGeom>
          <a:solidFill>
            <a:srgbClr val="1A1A17"/>
          </a:solidFill>
          <a:ln/>
        </p:spPr>
      </p:sp>
      <p:sp>
        <p:nvSpPr>
          <p:cNvPr id="6" name="Text 3"/>
          <p:cNvSpPr/>
          <p:nvPr/>
        </p:nvSpPr>
        <p:spPr>
          <a:xfrm>
            <a:off x="6556248" y="2523744"/>
            <a:ext cx="4764024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 = () =&gt;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lerp hacia el objetivo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cur.x += (tgt.x - cur.x) * EASE;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envolver módulo un mosaico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wx =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gsap.utils.wrap(-tileW, 0, cur.x);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setX(wx);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gsap.ticker.add(render);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pPr algn="r" indent="0" marL="0">
              <a:buNone/>
            </a:pPr>
            <a:r>
              <a:rPr lang="en-US" sz="110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obiasarraiza/e009dd76-c965-41c6-8949-c53af974f498/scratchpad/deck/img/hero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77072" y="0"/>
            <a:ext cx="36118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7072" y="0"/>
            <a:ext cx="1280160" cy="6858000"/>
          </a:xfrm>
          <a:prstGeom prst="rect">
            <a:avLst/>
          </a:prstGeom>
          <a:solidFill>
            <a:srgbClr val="121210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05 · TYPESCRIPT</a:t>
            </a:r>
            <a:endParaRPr lang="en-US" sz="1150" dirty="0"/>
          </a:p>
        </p:txBody>
      </p:sp>
      <p:pic>
        <p:nvPicPr>
          <p:cNvPr id="5" name="Image 1" descr="/private/tmp/claude-501/-Users-tobiasarraiza/e009dd76-c965-41c6-8949-c53af974f498/scratchpad/deck/img/t-tipos-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97480"/>
            <a:ext cx="3566160" cy="16314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pPr algn="r" indent="0" marL="0">
              <a:buNone/>
            </a:pPr>
            <a:r>
              <a:rPr lang="en-US" sz="11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INICIALIZACIÓN DE TYPESCRIPT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setup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2011680" cy="9233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5146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70432" y="25328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el compilador:  npm i -D typescript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31546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70432" y="31729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tsconfig.json con  strict: true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0432" y="38130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typecheck — Vite transpila los .ts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ya transpila los .ts con esbuild; TypeScript se agrega para el chequeo de tipos.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46520" y="2331720"/>
            <a:ext cx="5074920" cy="3108960"/>
          </a:xfrm>
          <a:prstGeom prst="roundRect">
            <a:avLst>
              <a:gd name="adj" fmla="val 2647"/>
            </a:avLst>
          </a:prstGeom>
          <a:solidFill>
            <a:srgbClr val="1A1A17"/>
          </a:solidFill>
          <a:ln/>
        </p:spPr>
      </p:sp>
      <p:sp>
        <p:nvSpPr>
          <p:cNvPr id="12" name="Text 9"/>
          <p:cNvSpPr/>
          <p:nvPr/>
        </p:nvSpPr>
        <p:spPr>
          <a:xfrm>
            <a:off x="6647688" y="2478024"/>
            <a:ext cx="467258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"compilerOptions":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"target": "ES2020",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"module": "ESNext",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"strict": true,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"noUnusedLocals": true,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"noEmit": true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"include": ["src"] }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pPr algn="r" indent="0" marL="0">
              <a:buNone/>
            </a:pPr>
            <a:r>
              <a:rPr lang="en-US" sz="110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LO BÁSICO DE TYPESCRIPT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basicos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2560320" cy="755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4688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Anotaciones de tipo:  (e: WheelEvent): void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 describe la forma de un objeto.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/ readonly  en las propiedades de clase.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Genéricos del DOM:  querySelector&lt;HTMLElement&gt;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como arrow function → conservan this.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355080" y="2468880"/>
            <a:ext cx="5166360" cy="3657600"/>
          </a:xfrm>
          <a:prstGeom prst="roundRect">
            <a:avLst>
              <a:gd name="adj" fmla="val 2250"/>
            </a:avLst>
          </a:prstGeom>
          <a:solidFill>
            <a:srgbClr val="1A1A17"/>
          </a:solidFill>
          <a:ln/>
        </p:spPr>
      </p:sp>
      <p:sp>
        <p:nvSpPr>
          <p:cNvPr id="6" name="Text 3"/>
          <p:cNvSpPr/>
          <p:nvPr/>
        </p:nvSpPr>
        <p:spPr>
          <a:xfrm>
            <a:off x="6556248" y="2615184"/>
            <a:ext cx="476402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Vec2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x: number;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y: number;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current: Vec2 = { x: 0, y: 0 };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onWheel = (e: WheelEvent): void =&gt;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this.target.x -= e.deltaX;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pPr algn="r" indent="0" marL="0">
              <a:buNone/>
            </a:pPr>
            <a:r>
              <a:rPr lang="en-US" sz="11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LA GALERÍA INFINITA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gallery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3291840" cy="1304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Recreación de truekindskincare.com.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85800" y="320040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2D que se arrastra en cualquier dirección.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Inercia al soltar + paneo con la rueda.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Infinito real: malla 3×3 con gsap.utils.wrap.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+ GSAP + Tailwind, sin costuras.</a:t>
            </a:r>
            <a:endParaRPr lang="en-US" sz="1300" dirty="0"/>
          </a:p>
        </p:txBody>
      </p:sp>
      <p:pic>
        <p:nvPicPr>
          <p:cNvPr id="6" name="Image 1" descr="/private/tmp/claude-501/-Users-tobiasarraiza/e009dd76-c965-41c6-8949-c53af974f498/scratchpad/deck/img/prod-b1-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2377440"/>
            <a:ext cx="1691640" cy="1783080"/>
          </a:xfrm>
          <a:prstGeom prst="rect">
            <a:avLst/>
          </a:prstGeom>
        </p:spPr>
      </p:pic>
      <p:pic>
        <p:nvPicPr>
          <p:cNvPr id="7" name="Image 2" descr="/private/tmp/claude-501/-Users-tobiasarraiza/e009dd76-c965-41c6-8949-c53af974f498/scratchpad/deck/img/prod-v1-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01584" y="2377440"/>
            <a:ext cx="1691640" cy="1783080"/>
          </a:xfrm>
          <a:prstGeom prst="rect">
            <a:avLst/>
          </a:prstGeom>
        </p:spPr>
      </p:pic>
      <p:pic>
        <p:nvPicPr>
          <p:cNvPr id="8" name="Image 3" descr="/private/tmp/claude-501/-Users-tobiasarraiza/e009dd76-c965-41c6-8949-c53af974f498/scratchpad/deck/img/prod-b2-a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39528" y="2377440"/>
            <a:ext cx="1691640" cy="1783080"/>
          </a:xfrm>
          <a:prstGeom prst="rect">
            <a:avLst/>
          </a:prstGeom>
        </p:spPr>
      </p:pic>
      <p:pic>
        <p:nvPicPr>
          <p:cNvPr id="9" name="Image 4" descr="/private/tmp/claude-501/-Users-tobiasarraiza/e009dd76-c965-41c6-8949-c53af974f498/scratchpad/deck/img/prod-v3-a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63640" y="4306824"/>
            <a:ext cx="1691640" cy="1783080"/>
          </a:xfrm>
          <a:prstGeom prst="rect">
            <a:avLst/>
          </a:prstGeom>
        </p:spPr>
      </p:pic>
      <p:pic>
        <p:nvPicPr>
          <p:cNvPr id="10" name="Image 5" descr="/private/tmp/claude-501/-Users-tobiasarraiza/e009dd76-c965-41c6-8949-c53af974f498/scratchpad/deck/img/prod-b3-a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01584" y="4306824"/>
            <a:ext cx="1691640" cy="1783080"/>
          </a:xfrm>
          <a:prstGeom prst="rect">
            <a:avLst/>
          </a:prstGeom>
        </p:spPr>
      </p:pic>
      <p:pic>
        <p:nvPicPr>
          <p:cNvPr id="11" name="Image 6" descr="/private/tmp/claude-501/-Users-tobiasarraiza/e009dd76-c965-41c6-8949-c53af974f498/scratchpad/deck/img/prod-v4-a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939528" y="4306824"/>
            <a:ext cx="1691640" cy="178308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pPr algn="r" indent="0" marL="0">
              <a:buNone/>
            </a:pPr>
            <a:r>
              <a:rPr lang="en-US" sz="11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CONCLUSIÓN</a:t>
            </a:r>
            <a:endParaRPr lang="en-US" sz="1150" dirty="0"/>
          </a:p>
        </p:txBody>
      </p:sp>
      <p:pic>
        <p:nvPicPr>
          <p:cNvPr id="3" name="Image 0" descr="/private/tmp/claude-501/-Users-tobiasarraiza/e009dd76-c965-41c6-8949-c53af974f498/scratchpad/deck/img/t-conclusion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32688"/>
            <a:ext cx="3657600" cy="754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46888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Modularidad: un archivo, una responsabilidad; import / export.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por clases: constructor → guarda → init → métodos.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GSAP: de to/from a timelines, ScrollTrigger y un bucle propio.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TypeScript: tipos que atrapan errores y documentan el código.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une todo: multi-página, TS y Tailwind con mínima config.</a:t>
            </a:r>
            <a:endParaRPr lang="en-US" sz="1400" dirty="0"/>
          </a:p>
        </p:txBody>
      </p:sp>
      <p:pic>
        <p:nvPicPr>
          <p:cNvPr id="5" name="Image 1" descr="/private/tmp/claude-501/-Users-tobiasarraiza/e009dd76-c965-41c6-8949-c53af974f498/scratchpad/deck/img/hero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21040" y="2194560"/>
            <a:ext cx="3200400" cy="3931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51592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pPr algn="r" indent="0" marL="0">
              <a:buNone/>
            </a:pPr>
            <a:r>
              <a:rPr lang="en-US" sz="1100" dirty="0">
                <a:solidFill>
                  <a:srgbClr val="8C8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26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obiasarraiza/e009dd76-c965-41c6-8949-c53af974f498/scratchpad/deck/img/hero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0" y="0"/>
            <a:ext cx="34107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78240" y="0"/>
            <a:ext cx="1280160" cy="6858000"/>
          </a:xfrm>
          <a:prstGeom prst="rect">
            <a:avLst/>
          </a:prstGeom>
          <a:solidFill>
            <a:srgbClr val="121210">
              <a:alpha val="55000"/>
            </a:srgbClr>
          </a:solidFill>
          <a:ln/>
        </p:spPr>
      </p:sp>
      <p:pic>
        <p:nvPicPr>
          <p:cNvPr id="4" name="Image 1" descr="/private/tmp/claude-501/-Users-tobiasarraiza/e009dd76-c965-41c6-8949-c53af974f498/scratchpad/deck/img/t-gracias-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4206240" cy="12523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38127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aether.  ·  Drillot Studio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68680" y="5989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Tobias Arraiza</a:t>
            </a:r>
            <a:pPr indent="0" marL="0">
              <a:buNone/>
            </a:pPr>
            <a:r>
              <a:rPr lang="en-US" sz="1300" dirty="0">
                <a:solidFill>
                  <a:srgbClr val="A7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Trabajo Final · Programación II · UMAI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aether. — Documentación Técnica</dc:title>
  <dc:subject>PptxGenJS Presentation</dc:subject>
  <dc:creator>Tobias Arraiza</dc:creator>
  <cp:lastModifiedBy>Tobias Arraiza</cp:lastModifiedBy>
  <cp:revision>1</cp:revision>
  <dcterms:created xsi:type="dcterms:W3CDTF">2026-07-16T02:22:46Z</dcterms:created>
  <dcterms:modified xsi:type="dcterms:W3CDTF">2026-07-16T02:22:46Z</dcterms:modified>
</cp:coreProperties>
</file>